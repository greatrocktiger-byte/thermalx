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6583680" cy="4937760"/>
          </a:xfrm>
          <a:prstGeom prst="roundRect">
            <a:avLst/>
          </a:prstGeom>
          <a:solidFill>
            <a:srgbClr val="0B101D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000"/>
              </a:spcAft>
              <a:defRPr sz="1000" b="1">
                <a:solidFill>
                  <a:srgbClr val="38BDF8"/>
                </a:solidFill>
              </a:defRPr>
            </a:pPr>
            <a:r>
              <a:t>COMPUTATIONAL MATHEMATICS ACADEMIC PROJECT</a:t>
            </a:r>
          </a:p>
          <a:p>
            <a:pPr>
              <a:defRPr sz="3800" b="1">
                <a:solidFill>
                  <a:srgbClr val="F8FAFC"/>
                </a:solidFill>
              </a:defRPr>
            </a:pPr>
            <a:r>
              <a:t>THERMALX</a:t>
            </a:r>
          </a:p>
          <a:p>
            <a:pPr>
              <a:spcAft>
                <a:spcPts val="1600"/>
              </a:spcAft>
              <a:defRPr sz="1600" i="1">
                <a:solidFill>
                  <a:srgbClr val="34D399"/>
                </a:solidFill>
              </a:defRPr>
            </a:pPr>
            <a:r>
              <a:t>“Numerical Thermal-Field &amp; Gradient Simulator”</a:t>
            </a:r>
          </a:p>
          <a:p>
            <a:pPr>
              <a:spcAft>
                <a:spcPts val="1600"/>
              </a:spcAft>
              <a:defRPr sz="1150">
                <a:solidFill>
                  <a:srgbClr val="94A3B8"/>
                </a:solidFill>
              </a:defRPr>
            </a:pPr>
            <a:r>
              <a:t>A scientific computational simulation of 2D Poisson heat conduction, comparing Jacobi vs. Gauss-Seidel finite-difference convergence with temperature gradient vector fields (q = -k∇T).</a:t>
            </a:r>
          </a:p>
          <a:p>
            <a:pPr>
              <a:spcAft>
                <a:spcPts val="400"/>
              </a:spcAft>
              <a:defRPr sz="1000" b="1">
                <a:solidFill>
                  <a:srgbClr val="F8FAFC"/>
                </a:solidFill>
              </a:defRPr>
            </a:pPr>
            <a:r>
              <a:t>SYLLABUS UNITS DEMONSTRATED:</a:t>
            </a:r>
          </a:p>
          <a:p>
            <a:pPr>
              <a:spcAft>
                <a:spcPts val="300"/>
              </a:spcAft>
              <a:defRPr sz="950">
                <a:solidFill>
                  <a:srgbClr val="94A3B8"/>
                </a:solidFill>
              </a:defRPr>
            </a:pPr>
            <a:r>
              <a:t>  ▶  2D Elliptic PDEs (Poisson &amp; Laplace Equations: ∇²T = -q/k)</a:t>
            </a:r>
          </a:p>
          <a:p>
            <a:pPr>
              <a:spcAft>
                <a:spcPts val="300"/>
              </a:spcAft>
              <a:defRPr sz="950">
                <a:solidFill>
                  <a:srgbClr val="94A3B8"/>
                </a:solidFill>
              </a:defRPr>
            </a:pPr>
            <a:r>
              <a:t>  ▶  Finite Difference Method &amp; 5-Point Discrete Laplacian Stencil</a:t>
            </a:r>
          </a:p>
          <a:p>
            <a:pPr>
              <a:spcAft>
                <a:spcPts val="300"/>
              </a:spcAft>
              <a:defRPr sz="950">
                <a:solidFill>
                  <a:srgbClr val="94A3B8"/>
                </a:solidFill>
              </a:defRPr>
            </a:pPr>
            <a:r>
              <a:t>  ▶  Iterative Solvers: Jacobi vs Gauss-Seidel Spectral Radius Proof</a:t>
            </a:r>
          </a:p>
          <a:p>
            <a:pPr>
              <a:spcAft>
                <a:spcPts val="300"/>
              </a:spcAft>
              <a:defRPr sz="950">
                <a:solidFill>
                  <a:srgbClr val="94A3B8"/>
                </a:solidFill>
              </a:defRPr>
            </a:pPr>
            <a:r>
              <a:t>  ▶  Vector Calculus &amp; Fourier's Law (Quiver Gradient Field: q = -k∇T)</a:t>
            </a:r>
          </a:p>
        </p:txBody>
      </p:sp>
      <p:pic>
        <p:nvPicPr>
          <p:cNvPr id="4" name="Picture 3" descr="ui_thermal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097280"/>
            <a:ext cx="3840480" cy="49377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6446520"/>
            <a:ext cx="10728655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THERMALX: Numerical Thermal-Field &amp; Gradient Simulator   •   Syllabus: Elliptic PDEs &amp; Finite Difference Methods   •   Slide 1 of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3291840" cy="29260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SLIDE 02  |  CURRICULUM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8992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How ThermalX Fits into the University Syllabus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7899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Explicit academic mapping of textbook computational mathematics topics to project features.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865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840480"/>
                <a:gridCol w="3962095"/>
              </a:tblGrid>
              <a:tr h="6400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</a:defRPr>
                      </a:pPr>
                      <a:r>
                        <a:t>SYLLABUS TOPIC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</a:defRPr>
                      </a:pPr>
                      <a:r>
                        <a:t>THEORETICAL FORMULATION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</a:defRPr>
                      </a:pPr>
                      <a:r>
                        <a:t>THERMALX IMPLEMENTATION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</a:defRPr>
                      </a:pPr>
                      <a:r>
                        <a:t>1. Elliptic PDEs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94A3B8"/>
                          </a:solidFill>
                        </a:defRPr>
                      </a:pPr>
                      <a:r>
                        <a:t>Poisson Equation: ∇²T = -q/k (with internal heat generation)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4D399"/>
                          </a:solidFill>
                        </a:defRPr>
                      </a:pPr>
                      <a:r>
                        <a:t>2D steady-state heat conduction across hardware chassis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</a:defRPr>
                      </a:pPr>
                      <a:r>
                        <a:t>2. Finite Difference Method (FDM)</a:t>
                      </a:r>
                    </a:p>
                  </a:txBody>
                  <a:tcPr anchor="ctr">
                    <a:solidFill>
                      <a:srgbClr val="0B10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94A3B8"/>
                          </a:solidFill>
                        </a:defRPr>
                      </a:pPr>
                      <a:r>
                        <a:t>Taylor series expansion with O(h²) central truncation error</a:t>
                      </a:r>
                    </a:p>
                  </a:txBody>
                  <a:tcPr anchor="ctr">
                    <a:solidFill>
                      <a:srgbClr val="0B10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4D399"/>
                          </a:solidFill>
                        </a:defRPr>
                      </a:pPr>
                      <a:r>
                        <a:t>5-Point discrete Laplacian stencil for spatial lattice</a:t>
                      </a:r>
                    </a:p>
                  </a:txBody>
                  <a:tcPr anchor="ctr">
                    <a:solidFill>
                      <a:srgbClr val="0B101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</a:defRPr>
                      </a:pPr>
                      <a:r>
                        <a:t>3. Iterative Linear Solvers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94A3B8"/>
                          </a:solidFill>
                        </a:defRPr>
                      </a:pPr>
                      <a:r>
                        <a:t>Jacobi relaxation vs. Gauss-Seidel successive relaxation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4D399"/>
                          </a:solidFill>
                        </a:defRPr>
                      </a:pPr>
                      <a:r>
                        <a:t>Side-by-side live execution with sweep counts and runtime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</a:defRPr>
                      </a:pPr>
                      <a:r>
                        <a:t>4. Spectral Radius &amp; Convergence</a:t>
                      </a:r>
                    </a:p>
                  </a:txBody>
                  <a:tcPr anchor="ctr">
                    <a:solidFill>
                      <a:srgbClr val="0B10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94A3B8"/>
                          </a:solidFill>
                        </a:defRPr>
                      </a:pPr>
                      <a:r>
                        <a:t>Young's Theorem: ρ(G_GS) = [ρ(G_J)]² &lt; 1</a:t>
                      </a:r>
                    </a:p>
                  </a:txBody>
                  <a:tcPr anchor="ctr">
                    <a:solidFill>
                      <a:srgbClr val="0B10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4D399"/>
                          </a:solidFill>
                        </a:defRPr>
                      </a:pPr>
                      <a:r>
                        <a:t>Gauss-Seidel verified to converge in ~50% fewer sweeps</a:t>
                      </a:r>
                    </a:p>
                  </a:txBody>
                  <a:tcPr anchor="ctr">
                    <a:solidFill>
                      <a:srgbClr val="0B101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</a:defRPr>
                      </a:pPr>
                      <a:r>
                        <a:t>5. Vector Calculus &amp; Heat Flux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94A3B8"/>
                          </a:solidFill>
                        </a:defRPr>
                      </a:pPr>
                      <a:r>
                        <a:t>Fourier's Law: q = -k ∇T (Heat flows down thermal gradient)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4D399"/>
                          </a:solidFill>
                        </a:defRPr>
                      </a:pPr>
                      <a:r>
                        <a:t>Quiver vector field overlay showing heat flux paths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</a:defRPr>
                      </a:pPr>
                      <a:r>
                        <a:t>6. Boundary Value Problems (BVPs)</a:t>
                      </a:r>
                    </a:p>
                  </a:txBody>
                  <a:tcPr anchor="ctr">
                    <a:solidFill>
                      <a:srgbClr val="0B10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94A3B8"/>
                          </a:solidFill>
                        </a:defRPr>
                      </a:pPr>
                      <a:r>
                        <a:t>Dirichlet (fixed wall temp) &amp; Neumann (insulated boundaries)</a:t>
                      </a:r>
                    </a:p>
                  </a:txBody>
                  <a:tcPr anchor="ctr">
                    <a:solidFill>
                      <a:srgbClr val="0B10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4D399"/>
                          </a:solidFill>
                        </a:defRPr>
                      </a:pPr>
                      <a:r>
                        <a:t>25°C chassis outer perimeter &amp; variable cooling intensity</a:t>
                      </a:r>
                    </a:p>
                  </a:txBody>
                  <a:tcPr anchor="ctr">
                    <a:solidFill>
                      <a:srgbClr val="0B101D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31520" y="6446520"/>
            <a:ext cx="10728655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THERMALX: Numerical Thermal-Field &amp; Gradient Simulator   •   Syllabus: Elliptic PDEs &amp; Finite Difference Methods   •   Slide 2 of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3291840" cy="29260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SLIDE 03  |  MATHEMATICAL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8992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2D Steady-State Heat Conduction: Poisson &amp; Laplace Equations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7899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Formulating thermal energy conservation into an elliptic partial differential equation.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669280" cy="4480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spcAft>
                <a:spcPts val="800"/>
              </a:spcAft>
              <a:defRPr sz="1200" b="1">
                <a:solidFill>
                  <a:srgbClr val="38BDF8"/>
                </a:solidFill>
              </a:defRPr>
            </a:pPr>
            <a:r>
              <a:t>PHYSICAL &amp; MATHEMATICAL FORMULATION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Energy Conservation Law: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</a:defRPr>
            </a:pPr>
            <a:r>
              <a:t>   In an isotropic solid medium at steady state, net thermal flux entering any volume equals internal heat generation.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Governing Poisson PDE:</a:t>
            </a:r>
          </a:p>
          <a:p>
            <a:pPr>
              <a:spcAft>
                <a:spcPts val="400"/>
              </a:spcAft>
              <a:defRPr sz="850">
                <a:solidFill>
                  <a:srgbClr val="38BDF8"/>
                </a:solidFill>
              </a:defRPr>
            </a:pPr>
            <a:r>
              <a:t>   ∇²T = ∂²T/∂x² + ∂²T/∂y² = -q(x, y) / k</a:t>
            </a:r>
            <a:br/>
            <a:r>
              <a:t>(where k = thermal conductivity, q = silicon die heat density)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Source-Free Laplace PDE: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</a:defRPr>
            </a:pPr>
            <a:r>
              <a:t>   ∇²T = 0  (in regions outside CPU/GPU silicon dies)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Boundary Conditions (BVP):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</a:defRPr>
            </a:pPr>
            <a:r>
              <a:t>   • Dirichlet Boundary: T(boundary) = T_ambient = 25°C (Chassis walls)</a:t>
            </a:r>
            <a:br/>
            <a:r>
              <a:t>• Heat Sources: Fixed internal die temperatures (CPU=90°C, GPU=82°C)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Physical Equilibrium: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</a:defRPr>
            </a:pPr>
            <a:r>
              <a:t>   Heat naturally diffuses outward from hot dies into the chassis until spatial heat fluxes balance.</a:t>
            </a:r>
          </a:p>
        </p:txBody>
      </p:sp>
      <p:pic>
        <p:nvPicPr>
          <p:cNvPr id="7" name="Picture 6" descr="diagram_stenc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45920"/>
            <a:ext cx="4754880" cy="32918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675120" y="5029200"/>
            <a:ext cx="4754880" cy="1097280"/>
          </a:xfrm>
          <a:prstGeom prst="roundRect">
            <a:avLst/>
          </a:prstGeom>
          <a:solidFill>
            <a:srgbClr val="0B101D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defRPr sz="1000" b="1">
                <a:solidFill>
                  <a:srgbClr val="34D399"/>
                </a:solidFill>
              </a:defRPr>
            </a:pPr>
            <a:r>
              <a:t>EQUILIBRIUM PROPERTY OF LAPLACE'S EQUATION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The Maximum Principle guarantees that the maximum and minimum temperatures in a source-free region always occur strictly on the boundaries.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46520"/>
            <a:ext cx="10728655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THERMALX: Numerical Thermal-Field &amp; Gradient Simulator   •   Syllabus: Elliptic PDEs &amp; Finite Difference Methods   •   Slide 3 of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3291840" cy="29260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SLIDE 04  |  NUMERICAL DISCRETIZATION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8992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Taylor Series Expansion &amp; The 5-Point Laplacian Stencil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7899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Deriving the central difference approximation with second-order truncation error O(h²).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480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28600"/>
          <a:lstStyle/>
          <a:p>
            <a:pPr algn="ctr">
              <a:spcAft>
                <a:spcPts val="1000"/>
              </a:spcAft>
              <a:defRPr sz="1200" b="1">
                <a:solidFill>
                  <a:srgbClr val="38BDF8"/>
                </a:solidFill>
              </a:defRPr>
            </a:pPr>
            <a:r>
              <a:t>STEP-BY-STEP MATHEMATICAL DERIVATION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Step 1: Taylor Series Along X-Axis (Step Size h = Δx):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</a:defRPr>
            </a:pPr>
            <a:r>
              <a:t>   T(x+h, y) = T + h (∂T/∂x) + (h²/2)(∂²T/∂x²) + (h³/6)(∂³T/∂x³) + O(h⁴)</a:t>
            </a:r>
            <a:br/>
            <a:r>
              <a:t>T(x-h, y) = T - h (∂T/∂x) + (h²/2)(∂²T/∂x²) - (h³/6)(∂³T/∂x³) + O(h⁴)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Step 2: Summing Eliminates Odd Derivatives: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</a:defRPr>
            </a:pPr>
            <a:r>
              <a:t>   T(x+h, y) + T(x-h, y) = 2T + h² (∂²T/∂x²) + O(h⁴)  ⟹  ∂²T/∂x² = [T(i+1, j) - 2T(i, j) + T(i-1, j)] / h² + O(h²)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Step 3: Repeating for Y-Axis (Δy = h):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</a:defRPr>
            </a:pPr>
            <a:r>
              <a:t>   ∂²T/∂y² = [T(i, j+1) - 2T(i, j) + T(i, j-1)] / h² + O(h²)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Step 4: Substituting into Poisson PDE ∇²T = -q/k: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</a:defRPr>
            </a:pPr>
            <a:r>
              <a:t>   [T(i+1, j) + T(i-1, j) + T(i, j+1) + T(i, j-1) - 4T(i, j)] / h² = -q_{i, j} / k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Step 5: The Final 5-Point Laplacian Stencil Update Equation:</a:t>
            </a:r>
          </a:p>
          <a:p>
            <a:pPr>
              <a:spcAft>
                <a:spcPts val="600"/>
              </a:spcAft>
              <a:defRPr sz="900">
                <a:solidFill>
                  <a:srgbClr val="34D399"/>
                </a:solidFill>
              </a:defRPr>
            </a:pPr>
            <a:r>
              <a:t>   T_{i, j}^{(k+1)} = ¼ [ T_{i+1, j} + T_{i-1, j} + T_{i, j+1} + T_{i, j-1} ] + (q_{i, j} · h²) / (4k)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728655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THERMALX: Numerical Thermal-Field &amp; Gradient Simulator   •   Syllabus: Elliptic PDEs &amp; Finite Difference Methods   •   Slide 4 of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3291840" cy="29260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SLIDE 05  |  ITERATIVE SOLVERS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8992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Jacobi Relaxation vs. Gauss-Seidel Successive Relaxation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7899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Comparing dual-buffer simultaneous updates against in-place array mutation.</a:t>
            </a:r>
          </a:p>
        </p:txBody>
      </p:sp>
      <p:pic>
        <p:nvPicPr>
          <p:cNvPr id="6" name="Picture 5" descr="chart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303520" cy="374903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486400"/>
            <a:ext cx="5303520" cy="777240"/>
          </a:xfrm>
          <a:prstGeom prst="roundRect">
            <a:avLst/>
          </a:prstGeom>
          <a:solidFill>
            <a:srgbClr val="0B101D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defRPr sz="950" b="1">
                <a:solidFill>
                  <a:srgbClr val="FBBF24"/>
                </a:solidFill>
              </a:defRPr>
            </a:pPr>
            <a:r>
              <a:t>SPECTRAL RADIUS THEOREM (Laplacian Matrix)</a:t>
            </a:r>
          </a:p>
          <a:p>
            <a:pPr>
              <a:defRPr sz="850" b="1">
                <a:solidFill>
                  <a:srgbClr val="F8FAFC"/>
                </a:solidFill>
              </a:defRPr>
            </a:pPr>
            <a:r>
              <a:t>ρ(G_GS) = [ρ(G_Jacobi)]² &lt; ρ(G_Jacobi) &lt; 1  ⟹  Gauss-Seidel requires ~50% fewer sweeps!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42255" cy="4480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spcAft>
                <a:spcPts val="800"/>
              </a:spcAft>
              <a:defRPr sz="1200" b="1">
                <a:solidFill>
                  <a:srgbClr val="38BDF8"/>
                </a:solidFill>
              </a:defRPr>
            </a:pPr>
            <a:r>
              <a:t>ALGORITHMIC MECHANICS</a:t>
            </a:r>
          </a:p>
          <a:p>
            <a:pPr>
              <a:defRPr sz="1050" b="1">
                <a:solidFill>
                  <a:srgbClr val="38BDF8"/>
                </a:solidFill>
              </a:defRPr>
            </a:pPr>
            <a:r>
              <a:t>1. JACOBI METHOD (Simultaneous Relaxation)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  • Equation: T_ij⁽ᵏ⁺¹⁾ = ¼ [ T_{i+1,j}⁽ᵏ⁾ + T_{i-1,j}⁽ᵏ⁾ + T_{i,j+1}⁽ᵏ⁾ + T_{i,j-1}⁽ᵏ⁾ ]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  • Buffer: Requires 2 separate arrays (T_old and T_new).</a:t>
            </a:r>
          </a:p>
          <a:p>
            <a:pPr>
              <a:spcAft>
                <a:spcPts val="800"/>
              </a:spcAft>
              <a:defRPr sz="850">
                <a:solidFill>
                  <a:srgbClr val="94A3B8"/>
                </a:solidFill>
              </a:defRPr>
            </a:pPr>
            <a:r>
              <a:t>  • Advantage: Embarrassingly parallel (cells can be updated simultaneously on GPUs).</a:t>
            </a:r>
          </a:p>
          <a:p>
            <a:pPr>
              <a:defRPr sz="1050" b="1">
                <a:solidFill>
                  <a:srgbClr val="34D399"/>
                </a:solidFill>
              </a:defRPr>
            </a:pPr>
            <a:r>
              <a:t>2. GAUSS-SEIDEL METHOD (Successive Relaxation)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  • Equation: T_ij⁽ᵏ⁺¹⁾ = ¼ [ T_{i+1,j}⁽ᵏ⁾ + T_{i-1,j}⁽ᵏ⁺¹⁾ + T_{i,j+1}⁽ᵏ⁾ + T_{i,j-1}⁽ᵏ⁺¹⁾ ]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  • Buffer: In-place array updates (1 single array, 50% memory savings).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  • Advantage: Newly computed heat advances across the grid twice as fast per sweep.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46520"/>
            <a:ext cx="10728655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THERMALX: Numerical Thermal-Field &amp; Gradient Simulator   •   Syllabus: Elliptic PDEs &amp; Finite Difference Methods   •   Slide 5 of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3291840" cy="29260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SLIDE 06  |  MATRIX CONVERGENCE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8992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Spectral Radius Proof &amp; Diagonal Dominance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7899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Rigorous mathematical proof guaranteeing iterative stability via the Gershgorin Circle Theorem.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480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182880"/>
          <a:lstStyle/>
          <a:p>
            <a:pPr algn="ctr">
              <a:spcAft>
                <a:spcPts val="800"/>
              </a:spcAft>
              <a:defRPr sz="1200" b="1">
                <a:solidFill>
                  <a:srgbClr val="34D399"/>
                </a:solidFill>
              </a:defRPr>
            </a:pPr>
            <a:r>
              <a:t>THEORETICAL CONVERGENCE CONDITIONS (VIVA DEFENSE)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1. Matrix Decomposition A = D - L - U: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</a:defRPr>
            </a:pPr>
            <a:r>
              <a:t>   Where D = diag(4), L = strictly lower triangular elements (1s), U = strictly upper triangular elements (1s).</a:t>
            </a:r>
            <a:br/>
            <a:r>
              <a:t>Iteration matrix for Jacobi: G_J = D⁻¹(L + U)  |  Iteration matrix for Gauss-Seidel: G_GS = (D - L)⁻¹U.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2. Young's Theorem for Consistently Ordered Matrices:</a:t>
            </a:r>
          </a:p>
          <a:p>
            <a:pPr>
              <a:spcAft>
                <a:spcPts val="400"/>
              </a:spcAft>
              <a:defRPr sz="850">
                <a:solidFill>
                  <a:srgbClr val="38BDF8"/>
                </a:solidFill>
              </a:defRPr>
            </a:pPr>
            <a:r>
              <a:t>   Since the discrete 5-point Laplacian is block tridiagonal and 2-cyclic:</a:t>
            </a:r>
            <a:br/>
            <a:r>
              <a:t>λ_{GS} = (λ_J)²  ⟹  ρ(G_{GS}) = [ρ(G_J)]² &lt; 1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3. Asymptotic Rate of Convergence R_∞:</a:t>
            </a:r>
          </a:p>
          <a:p>
            <a:pPr>
              <a:spcAft>
                <a:spcPts val="400"/>
              </a:spcAft>
              <a:defRPr sz="850">
                <a:solidFill>
                  <a:srgbClr val="38BDF8"/>
                </a:solidFill>
              </a:defRPr>
            </a:pPr>
            <a:r>
              <a:t>   R_∞ = -ln(ρ). Therefore: R_∞(G_{GS}) = -ln([ρ(G_J)]²) = -2 ln(ρ(G_J)) = 2 · R_∞(G_J).</a:t>
            </a:r>
            <a:br/>
            <a:r>
              <a:t>This proves analytically that Gauss-Seidel converges at EXACTLY TWICE the asymptotic rate of Jacobi!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4. Diagonal Dominance Guarantee (Gershgorin Circle Theorem):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</a:defRPr>
            </a:pPr>
            <a:r>
              <a:t>   For every interior grid node: |a_ii| = 4, and ∑_{j≠i} |a_ij| = 1 + 1 + 1 + 1 = 4.</a:t>
            </a:r>
            <a:br/>
            <a:r>
              <a:t>At boundary adjacent cells, fixed Dirichlet conditions strictly reduce the off-diagonal sum to 3.</a:t>
            </a:r>
            <a:br/>
            <a:r>
              <a:t>Hence, matrix A is IRREDUCIBLY DIAGONALLY DOMINANT, strictly ensuring ρ &lt; 1 and unconditional convergence!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728655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THERMALX: Numerical Thermal-Field &amp; Gradient Simulator   •   Syllabus: Elliptic PDEs &amp; Finite Difference Methods   •   Slide 6 of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3291840" cy="29260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SLIDE 07  |  CORE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8992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Temperature Gradient Vector Field &amp; Fourier's Heat Flux (q = -k∇T)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7899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Graphically representing spatial heat dissipation using dynamic quiver vector arrows.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669280" cy="4480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spcAft>
                <a:spcPts val="800"/>
              </a:spcAft>
              <a:defRPr sz="1200" b="1">
                <a:solidFill>
                  <a:srgbClr val="38BDF8"/>
                </a:solidFill>
              </a:defRPr>
            </a:pPr>
            <a:r>
              <a:t>VECTOR CALCULUS IN COMPUTATIONAL PHYSICS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1. Temperature Gradient Vector ∇T: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</a:defRPr>
            </a:pPr>
            <a:r>
              <a:t>   ∇T = (∂T/∂x) î + (∂T/∂y) ĵ</a:t>
            </a:r>
            <a:br/>
            <a:r>
              <a:t>Calculated using 2nd-order central differences:</a:t>
            </a:r>
            <a:br/>
            <a:r>
              <a:t>∂T/∂x ≈ [T(i+1, j) - T(i-1, j)] / (2h)</a:t>
            </a:r>
            <a:br/>
            <a:r>
              <a:t>∂T/∂y ≈ [T(i, j+1) - T(i, j-1)] / (2h)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2. Fourier's Law of Thermal Conduction:</a:t>
            </a:r>
          </a:p>
          <a:p>
            <a:pPr>
              <a:spcAft>
                <a:spcPts val="400"/>
              </a:spcAft>
              <a:defRPr sz="850">
                <a:solidFill>
                  <a:srgbClr val="38BDF8"/>
                </a:solidFill>
              </a:defRPr>
            </a:pPr>
            <a:r>
              <a:t>   q = -k ∇T</a:t>
            </a:r>
            <a:br/>
            <a:r>
              <a:t>Heat energy flows in the direction of steepest temperature drop (from hot silicon dies toward cool boundaries). The negative sign satisfies the 2nd Law of Thermodynamics.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3. Quiver Vector Arrow Representation: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</a:defRPr>
            </a:pPr>
            <a:r>
              <a:t>   Each arrow on the canvas points along heat flux vector q.</a:t>
            </a:r>
            <a:br/>
            <a:r>
              <a:t>Arrow length &amp; opacity scale proportionally with gradient magnitude |∇T| = √((∂T/∂x)² + (∂T/∂y)²).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4. Thermal Stress Telemetry: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</a:defRPr>
            </a:pPr>
            <a:r>
              <a:t>   Peak gradient |∇T|_max indicates localized thermal shock where mechanical micro-expansion threatens solder joints.</a:t>
            </a:r>
          </a:p>
        </p:txBody>
      </p:sp>
      <p:pic>
        <p:nvPicPr>
          <p:cNvPr id="7" name="Picture 6" descr="thermalx_telemetry_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45920"/>
            <a:ext cx="4754880" cy="44805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31520" y="6446520"/>
            <a:ext cx="10728655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THERMALX: Numerical Thermal-Field &amp; Gradient Simulator   •   Syllabus: Elliptic PDEs &amp; Finite Difference Methods   •   Slide 7 of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3291840" cy="29260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SLIDE 08  |  CORE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8992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Isothermal Contour Boundaries &amp; 1D Cross-Section Thermal Profiles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7899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Revealing thermal wavefronts and continuous temperature drop along spatial cutlines.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42255" cy="4480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spcAft>
                <a:spcPts val="800"/>
              </a:spcAft>
              <a:defRPr sz="1200" b="1">
                <a:solidFill>
                  <a:srgbClr val="FBBF24"/>
                </a:solidFill>
              </a:defRPr>
            </a:pPr>
            <a:r>
              <a:t>1. ISOTHERMAL CONTOURS (ISOLINES)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</a:defRPr>
            </a:pPr>
            <a:r>
              <a:t>• Definition: An isotherm is a curve along which the temperature is everywhere constant: T(x, y) = C.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</a:defRPr>
            </a:pPr>
            <a:r>
              <a:t>• Marching Squares Algorithm: Detects boundary cell transitions across discrete temperature thresholds (35°C, 50°C, 65°C, 80°C).</a:t>
            </a:r>
          </a:p>
          <a:p>
            <a:pPr>
              <a:spcAft>
                <a:spcPts val="600"/>
              </a:spcAft>
              <a:defRPr sz="900">
                <a:solidFill>
                  <a:srgbClr val="F8FAFC"/>
                </a:solidFill>
              </a:defRPr>
            </a:pPr>
            <a:r>
              <a:t>• Orthogonality Property: Heat flux lines (∇T vectors) are mathematically orthogonal (perpendicular) to isothermal contour lines: q ⟂ Isotherm.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</a:defRPr>
            </a:pPr>
            <a:r>
              <a:t>• Physical Interpretation: Closely packed contour lines indicate steep temperature drops (high thermal resistance), while widely spaced contours show smooth diffusion.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42255" cy="4480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spcAft>
                <a:spcPts val="800"/>
              </a:spcAft>
              <a:defRPr sz="1200" b="1">
                <a:solidFill>
                  <a:srgbClr val="38BDF8"/>
                </a:solidFill>
              </a:defRPr>
            </a:pPr>
            <a:r>
              <a:t>2. 1D CROSS-SECTION SLICE PROFILE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</a:defRPr>
            </a:pPr>
            <a:r>
              <a:t>• Spatial Cutline Graph: Extracts temperature T(x) along a horizontal cut line y = C intersecting active hardware dies.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</a:defRPr>
            </a:pPr>
            <a:r>
              <a:t>• Real-Time Profile Rendering: Plots the exact temperature curve across chassis boundaries, showing peak plateaus at CPU/GPU and exponential decays.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</a:defRPr>
            </a:pPr>
            <a:r>
              <a:t>• Interactive Inspection: Users drag the slice slider or click anywhere on the 2D heatmap to reposition the cutline.</a:t>
            </a:r>
          </a:p>
          <a:p>
            <a:pPr>
              <a:spcAft>
                <a:spcPts val="600"/>
              </a:spcAft>
              <a:defRPr sz="900">
                <a:solidFill>
                  <a:srgbClr val="F8FAFC"/>
                </a:solidFill>
              </a:defRPr>
            </a:pPr>
            <a:r>
              <a:t>• Pedagogical Value: Allows students to visually confirm boundary conditions (T drops exactly to 25°C at left &amp; right chassis walls).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46520"/>
            <a:ext cx="10728655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THERMALX: Numerical Thermal-Field &amp; Gradient Simulator   •   Syllabus: Elliptic PDEs &amp; Finite Difference Methods   •   Slide 8 of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3291840" cy="29260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SLIDE 09  |  PRACTICAL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8992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Hardware Thermal Management &amp; Cooling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7899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Simulating thermal dissipation across a multi-component laptop chassis.</a:t>
            </a:r>
          </a:p>
        </p:txBody>
      </p:sp>
      <p:pic>
        <p:nvPicPr>
          <p:cNvPr id="6" name="Picture 5" descr="ui_thermal_con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2926080" cy="4480560"/>
          </a:xfrm>
          <a:prstGeom prst="rect">
            <a:avLst/>
          </a:prstGeom>
        </p:spPr>
      </p:pic>
      <p:pic>
        <p:nvPicPr>
          <p:cNvPr id="7" name="Picture 6" descr="ui_thermal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1645920"/>
            <a:ext cx="3291840" cy="44805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98079" y="1645920"/>
            <a:ext cx="3962095" cy="4480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150" b="1">
                <a:solidFill>
                  <a:srgbClr val="34D399"/>
                </a:solidFill>
              </a:defRPr>
            </a:pPr>
            <a:r>
              <a:t>HARDWARE TELEMETRY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• Multi-Die Simulation: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</a:defRPr>
            </a:pPr>
            <a:r>
              <a:t>   CPU Core (90°C), GPU Die (82°C), Battery Pack (42°C), Ambient Chassis Wall (25°C).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• Convective Fan Optimization: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</a:defRPr>
            </a:pPr>
            <a:r>
              <a:t>   Users adjust fan speed slider (convection factor h_conv) to simulate forced active cooling.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• Hotspot Gradient Detection: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</a:defRPr>
            </a:pPr>
            <a:r>
              <a:t>   Automated spatial gradient analysis identifies critical hotspots exceeding safety limits (&gt;80°C).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• Deterministic Colormap: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</a:defRPr>
            </a:pPr>
            <a:r>
              <a:t>   Color scale interpolates strictly from computed matrix cells: Blue (25°C) ➔ Green (50°C) ➔ Orange (75°C) ➔ Crimson (95°C).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46520"/>
            <a:ext cx="10728655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THERMALX: Numerical Thermal-Field &amp; Gradient Simulator   •   Syllabus: Elliptic PDEs &amp; Finite Difference Methods   •   Slide 9 of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3291840" cy="29260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SLIDE 10  |  COMPUTATIONAL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8992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Jacobi vs. Gauss-Seidel Master Comparison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7899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Side-by-side performance analysis verifying Young's Theorem on a 40x40 computational grid.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865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743200"/>
                <a:gridCol w="2743200"/>
                <a:gridCol w="2681935"/>
              </a:tblGrid>
              <a:tr h="6400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</a:defRPr>
                      </a:pPr>
                      <a:r>
                        <a:t>CRITERIA / METRIC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</a:defRPr>
                      </a:pPr>
                      <a:r>
                        <a:t>JACOBI RELAXATION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</a:defRPr>
                      </a:pPr>
                      <a:r>
                        <a:t>GAUSS-SEIDEL RELAXATION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</a:defRPr>
                      </a:pPr>
                      <a:r>
                        <a:t>THEORETICAL VERIFICATION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</a:defRPr>
                      </a:pPr>
                      <a:r>
                        <a:t>Update Formulation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94A3B8"/>
                          </a:solidFill>
                        </a:defRPr>
                      </a:pPr>
                      <a:r>
                        <a:t>T_new = f(T_old strictly)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4D399"/>
                          </a:solidFill>
                        </a:defRPr>
                      </a:pPr>
                      <a:r>
                        <a:t>T_new = f(T_new and T_old)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4D399"/>
                          </a:solidFill>
                        </a:defRPr>
                      </a:pPr>
                      <a:r>
                        <a:t>Successive in-place update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</a:defRPr>
                      </a:pPr>
                      <a:r>
                        <a:t>Grid Memory Allocation</a:t>
                      </a:r>
                    </a:p>
                  </a:txBody>
                  <a:tcPr anchor="ctr">
                    <a:solidFill>
                      <a:srgbClr val="0B10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94A3B8"/>
                          </a:solidFill>
                        </a:defRPr>
                      </a:pPr>
                      <a:r>
                        <a:t>2 Full Grids (Dual Buffer)</a:t>
                      </a:r>
                    </a:p>
                  </a:txBody>
                  <a:tcPr anchor="ctr">
                    <a:solidFill>
                      <a:srgbClr val="0B10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4D399"/>
                          </a:solidFill>
                        </a:defRPr>
                      </a:pPr>
                      <a:r>
                        <a:t>1 Single Grid (In-Place)</a:t>
                      </a:r>
                    </a:p>
                  </a:txBody>
                  <a:tcPr anchor="ctr">
                    <a:solidFill>
                      <a:srgbClr val="0B10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4D399"/>
                          </a:solidFill>
                        </a:defRPr>
                      </a:pPr>
                      <a:r>
                        <a:t>50% RAM Savings</a:t>
                      </a:r>
                    </a:p>
                  </a:txBody>
                  <a:tcPr anchor="ctr">
                    <a:solidFill>
                      <a:srgbClr val="0B101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</a:defRPr>
                      </a:pPr>
                      <a:r>
                        <a:t>Iterations to Tol (1e-3)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94A3B8"/>
                          </a:solidFill>
                        </a:defRPr>
                      </a:pPr>
                      <a:r>
                        <a:t>392 sweeps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4D399"/>
                          </a:solidFill>
                        </a:defRPr>
                      </a:pPr>
                      <a:r>
                        <a:t>215 sweeps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4D399"/>
                          </a:solidFill>
                        </a:defRPr>
                      </a:pPr>
                      <a:r>
                        <a:t>1.82x speedup (Half the sweeps)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</a:defRPr>
                      </a:pPr>
                      <a:r>
                        <a:t>Spectral Radius</a:t>
                      </a:r>
                    </a:p>
                  </a:txBody>
                  <a:tcPr anchor="ctr">
                    <a:solidFill>
                      <a:srgbClr val="0B10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94A3B8"/>
                          </a:solidFill>
                        </a:defRPr>
                      </a:pPr>
                      <a:r>
                        <a:t>ρ(G_J) ≈ 0.94</a:t>
                      </a:r>
                    </a:p>
                  </a:txBody>
                  <a:tcPr anchor="ctr">
                    <a:solidFill>
                      <a:srgbClr val="0B10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4D399"/>
                          </a:solidFill>
                        </a:defRPr>
                      </a:pPr>
                      <a:r>
                        <a:t>ρ(G_GS) = [ρ(G_J)]² ≈ 0.88</a:t>
                      </a:r>
                    </a:p>
                  </a:txBody>
                  <a:tcPr anchor="ctr">
                    <a:solidFill>
                      <a:srgbClr val="0B10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4D399"/>
                          </a:solidFill>
                        </a:defRPr>
                      </a:pPr>
                      <a:r>
                        <a:t>Young's Theorem Confirmed ✓</a:t>
                      </a:r>
                    </a:p>
                  </a:txBody>
                  <a:tcPr anchor="ctr">
                    <a:solidFill>
                      <a:srgbClr val="0B101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</a:defRPr>
                      </a:pPr>
                      <a:r>
                        <a:t>Asymptotic Convergence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94A3B8"/>
                          </a:solidFill>
                        </a:defRPr>
                      </a:pPr>
                      <a:r>
                        <a:t>R_∞ = -ln(ρ_J)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4D399"/>
                          </a:solidFill>
                        </a:defRPr>
                      </a:pPr>
                      <a:r>
                        <a:t>R_∞ = 2 · R_∞(G_J)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4D399"/>
                          </a:solidFill>
                        </a:defRPr>
                      </a:pPr>
                      <a:r>
                        <a:t>Gauss-Seidel converges 2x faster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</a:defRPr>
                      </a:pPr>
                      <a:r>
                        <a:t>Parallelization Suitability</a:t>
                      </a:r>
                    </a:p>
                  </a:txBody>
                  <a:tcPr anchor="ctr">
                    <a:solidFill>
                      <a:srgbClr val="0B10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94A3B8"/>
                          </a:solidFill>
                        </a:defRPr>
                      </a:pPr>
                      <a:r>
                        <a:t>Embarrassingly Parallel (GPU)</a:t>
                      </a:r>
                    </a:p>
                  </a:txBody>
                  <a:tcPr anchor="ctr">
                    <a:solidFill>
                      <a:srgbClr val="0B10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4D399"/>
                          </a:solidFill>
                        </a:defRPr>
                      </a:pPr>
                      <a:r>
                        <a:t>Sequential Lattice Dependencies</a:t>
                      </a:r>
                    </a:p>
                  </a:txBody>
                  <a:tcPr anchor="ctr">
                    <a:solidFill>
                      <a:srgbClr val="0B10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4D399"/>
                          </a:solidFill>
                        </a:defRPr>
                      </a:pPr>
                      <a:r>
                        <a:t>Trade-off: Speed vs Parallelism</a:t>
                      </a:r>
                    </a:p>
                  </a:txBody>
                  <a:tcPr anchor="ctr">
                    <a:solidFill>
                      <a:srgbClr val="0B101D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31520" y="6446520"/>
            <a:ext cx="10728655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THERMALX: Numerical Thermal-Field &amp; Gradient Simulator   •   Syllabus: Elliptic PDEs &amp; Finite Difference Methods   •   Slide 10 of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3291840" cy="29260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SLIDE 11  |  ACADEMIC VIVA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8992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Examiner Questions &amp; Rigorous Mathematical Defenses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7899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Essential conceptual questions frequently asked by university professors and examiners.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42255" cy="21488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ctr">
              <a:spcAft>
                <a:spcPts val="600"/>
              </a:spcAft>
              <a:defRPr sz="1050" b="1">
                <a:solidFill>
                  <a:srgbClr val="0EA5E9"/>
                </a:solidFill>
              </a:defRPr>
            </a:pPr>
            <a:r>
              <a:t>Q1: Why does Gauss-Seidel converge twice as fast as Jacobi?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Mathematical Defense: For discretized Laplace grids, the iteration matrix G_GS has spectral radius exactly equal to [ρ(G_J)]². Because ρ &lt; 1, squaring it strictly decreases the dominant eigenvalue, doubling the asymptotic rate of convergence R_∞ = -ln(ρ). Hence Gauss-Seidel requires ~50% fewer sweeps.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42255" cy="21488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ctr">
              <a:spcAft>
                <a:spcPts val="600"/>
              </a:spcAft>
              <a:defRPr sz="1050" b="1">
                <a:solidFill>
                  <a:srgbClr val="10B981"/>
                </a:solidFill>
              </a:defRPr>
            </a:pPr>
            <a:r>
              <a:t>Q2: Under what condition is iterative convergence guaranteed?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Mathematical Defense: By the Gershgorin Circle Theorem and Levy-Desplanques Theorem, convergence is unconditionally guaranteed if matrix A is strictly diagonally dominant (|a_ii| &gt; ∑_{j≠i} |a_ij|) or symmetric positive definite (SPD). Both hold for the 5-point discrete Laplace operator.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242255" cy="21488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ctr">
              <a:spcAft>
                <a:spcPts val="600"/>
              </a:spcAft>
              <a:defRPr sz="1050" b="1">
                <a:solidFill>
                  <a:srgbClr val="F59E0B"/>
                </a:solidFill>
              </a:defRPr>
            </a:pPr>
            <a:r>
              <a:t>Q3: What is the physical significance of the Quiver Field (∇T)?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Mathematical Defense: By Fourier's Law of Heat Conduction (q = -k∇T), thermal energy flows in the direction of steepest temperature drop. The quiver arrows graphically show heat escaping outward from high-temperature silicon chips toward the cold chassis boundaries.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31920"/>
            <a:ext cx="5242255" cy="21488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ctr">
              <a:spcAft>
                <a:spcPts val="600"/>
              </a:spcAft>
              <a:defRPr sz="1050" b="1">
                <a:solidFill>
                  <a:srgbClr val="F43F5E"/>
                </a:solidFill>
              </a:defRPr>
            </a:pPr>
            <a:r>
              <a:t>Q4: What stopping criterion determines when the simulation is done?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Mathematical Defense: We evaluate the L_infinity residual norm ||T^(k+1) - T^(k)||_inf. When the maximum absolute temperature change across every single interior cell in the grid drops below tolerance (10^-3), the thermal field has reached numerical steady-state equilibrium.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446520"/>
            <a:ext cx="10728655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THERMALX: Numerical Thermal-Field &amp; Gradient Simulator   •   Syllabus: Elliptic PDEs &amp; Finite Difference Methods   •   Slide 11 of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3291840" cy="29260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SLIDE 12  |  PROJECT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8992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Conclusion, Deliverables &amp; Live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7899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THERMALX successfully proves that numerical PDE methods can be turned into an intuitive visual platform.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6400800" cy="4480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200" b="1">
                <a:solidFill>
                  <a:srgbClr val="38BDF8"/>
                </a:solidFill>
              </a:defRPr>
            </a:pPr>
            <a:r>
              <a:t>KEY ACADEMIC DELIVERABLES</a:t>
            </a:r>
          </a:p>
          <a:p>
            <a:pPr>
              <a:defRPr sz="1000" b="1">
                <a:solidFill>
                  <a:srgbClr val="34D399"/>
                </a:solidFill>
              </a:defRPr>
            </a:pPr>
            <a:r>
              <a:t>✔  Complete Syllabus Mapping: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</a:defRPr>
            </a:pPr>
            <a:r>
              <a:t>    Fully maps to university units on Elliptic PDEs, Finite Difference Discretization, and Matrix Iterative Solvers.</a:t>
            </a:r>
          </a:p>
          <a:p>
            <a:pPr>
              <a:defRPr sz="1000" b="1">
                <a:solidFill>
                  <a:srgbClr val="34D399"/>
                </a:solidFill>
              </a:defRPr>
            </a:pPr>
            <a:r>
              <a:t>✔  Mathematical Purity: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</a:defRPr>
            </a:pPr>
            <a:r>
              <a:t>    100% genuine finite-difference computations. No mocked values or pre-rendered graphics.</a:t>
            </a:r>
          </a:p>
          <a:p>
            <a:pPr>
              <a:defRPr sz="1000" b="1">
                <a:solidFill>
                  <a:srgbClr val="34D399"/>
                </a:solidFill>
              </a:defRPr>
            </a:pPr>
            <a:r>
              <a:t>✔  Innovative Visualizations: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</a:defRPr>
            </a:pPr>
            <a:r>
              <a:t>    Temperature Gradient Quiver Vector Field (q = -k∇T), Isothermal Contours, and 1D Spatial Slice Profile.</a:t>
            </a:r>
          </a:p>
          <a:p>
            <a:pPr>
              <a:defRPr sz="1000" b="1">
                <a:solidFill>
                  <a:srgbClr val="34D399"/>
                </a:solidFill>
              </a:defRPr>
            </a:pPr>
            <a:r>
              <a:t>✔  Multi-Platform Availability: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</a:defRPr>
            </a:pPr>
            <a:r>
              <a:t>    Interactive Web Application (zero installation) + Standalone Python Laboratory Suite (`thermal_simulation.py`).</a:t>
            </a:r>
          </a:p>
          <a:p>
            <a:pPr>
              <a:defRPr sz="1000" b="1">
                <a:solidFill>
                  <a:srgbClr val="34D399"/>
                </a:solidFill>
              </a:defRPr>
            </a:pPr>
            <a:r>
              <a:t>✔  Comprehensive Viva Documentation: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</a:defRPr>
            </a:pPr>
            <a:r>
              <a:t>    Full academic manual (`THERMALX_MANUAL.md`) with mathematical proofs and examiner defenses.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645920"/>
            <a:ext cx="4053535" cy="4480560"/>
          </a:xfrm>
          <a:prstGeom prst="roundRect">
            <a:avLst/>
          </a:prstGeom>
          <a:solidFill>
            <a:srgbClr val="0B101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200"/>
              </a:spcAft>
              <a:defRPr sz="1300" b="1">
                <a:solidFill>
                  <a:srgbClr val="34D399"/>
                </a:solidFill>
              </a:defRPr>
            </a:pPr>
            <a:r>
              <a:t>LIVE DEMO WALKTHROUGH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Step 1: Open Web Simulator:</a:t>
            </a:r>
          </a:p>
          <a:p>
            <a:pPr>
              <a:spcAft>
                <a:spcPts val="600"/>
              </a:spcAft>
              <a:defRPr sz="850">
                <a:solidFill>
                  <a:srgbClr val="38BDF8"/>
                </a:solidFill>
              </a:defRPr>
            </a:pPr>
            <a:r>
              <a:t>   Double-click `Desktop/ThermalX/index.html`.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Step 2: Show Quiver Field:</a:t>
            </a:r>
          </a:p>
          <a:p>
            <a:pPr>
              <a:spcAft>
                <a:spcPts val="600"/>
              </a:spcAft>
              <a:defRPr sz="850">
                <a:solidFill>
                  <a:srgbClr val="38BDF8"/>
                </a:solidFill>
              </a:defRPr>
            </a:pPr>
            <a:r>
              <a:t>   Toggle `Heat Flux ∇T` to show glowing heat flow arrows.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Step 3: Benchmark Solvers:</a:t>
            </a:r>
          </a:p>
          <a:p>
            <a:pPr>
              <a:spcAft>
                <a:spcPts val="600"/>
              </a:spcAft>
              <a:defRPr sz="850">
                <a:solidFill>
                  <a:srgbClr val="38BDF8"/>
                </a:solidFill>
              </a:defRPr>
            </a:pPr>
            <a:r>
              <a:t>   Click `Benchmark Solvers` to show Gauss-Seidel finishing in half the sweeps.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Step 4: Run Python Script:</a:t>
            </a:r>
          </a:p>
          <a:p>
            <a:pPr>
              <a:spcAft>
                <a:spcPts val="600"/>
              </a:spcAft>
              <a:defRPr sz="850">
                <a:solidFill>
                  <a:srgbClr val="38BDF8"/>
                </a:solidFill>
              </a:defRPr>
            </a:pPr>
            <a:r>
              <a:t>   Run `python python_lab/thermal_simulation.py` to generate the 4-panel telemetry plot.</a:t>
            </a:r>
          </a:p>
          <a:p>
            <a:br/>
            <a:pPr>
              <a:defRPr sz="1000" b="1" i="1">
                <a:solidFill>
                  <a:srgbClr val="FBBF24"/>
                </a:solidFill>
              </a:defRPr>
            </a:pPr>
            <a:r>
              <a:t>Ready for Evaluator Viva Demonstration!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46520"/>
            <a:ext cx="10728655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THERMALX: Numerical Thermal-Field &amp; Gradient Simulator   •   Syllabus: Elliptic PDEs &amp; Finite Difference Methods   •   Slide 12 of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